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9" r:id="rId16"/>
    <p:sldId id="266" r:id="rId17"/>
    <p:sldId id="267" r:id="rId18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0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0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尊敬的各位评委老师，下午好。我是软件工程专业的黄永娇，我的毕业设计题目是《基于大语言模型推理的函数级代码测试用例生成系统设计与实现》。本次汇报将围绕该系统的研究背景、设计实现、实验结果以及未来展望展开。请各位老师批评指正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将介绍本研究的背景与动机，阐述传统测试方法的痛点以及大语言模型带来的新机遇。其次，将详细介绍系统的总体设计，包括其架构和核心业务流程。接着，会展示系统的核心功能实现和关键技术。之后，将呈现实验结果与分析。最后，对本次研究进行总结并对未来工作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首先我们来看研究背景。传统的单元测试主要依赖手工编写，这不仅成本高昂，而且在面对复杂的代码逻辑时，测试人员很容易遗漏一些关键的测试场景，比如边界条件和异常分支。虽然有一些自动化工具，但它们往往难以理解代码的深层业务含义，生成的测试用例质量不高。因此，如何高效、高质量地生成测试用例，是当前软件工程领域的一个重要挑战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幸运的是，大语言模型的出现为我们提供了新的解决方案。LLM具备强大的代码理解和生成能力，特别是通过链式思维提示等技术，可以引导模型像人一样思考和设计测试用例。然而，模型的生成结果并非完美，需要验证、评估和迭代。因此，本研究的切入点就是构建一个系统，将LLM的生成能力与工程化的测试流程相结合，形成一个“生成-评估-迭代”的闭环，从而提升测试用例的质量和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这是我们设计的系统总体架构。它采用前后端分离的设计思想。前端基于Vue3构建，提供友好的用户交互界面。后端采用Spring Boot框架，处理核心业务逻辑，包括与前端的接口交互、调用大模型服务以及数据管理。数据存储在MySQL数据库中。此外，系统还集成了外部的大模型服务和用于Python代码覆盖率统计的coverage.py工具，共同构成了一个完整的技术体系。</a:t>
            </a:r>
            <a:endParaRPr lang="en-US" sz="1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业务流程是一个闭环。用户首先输入函数代码，系统调用大模型生成测试用例。接着，系统会自动评估这些用例的质量。所有生成和评估的结果都会被记录下来，方便后续分析。最关键的是，用户可以利用这些历史记录和评估反馈，触发“再次生成”，引导模型进行迭代优化，从而不断完善测试用例。这个闭环设计是我们系统的核心特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接下来我们看一下系统的具体实现。这是系统的核心页面——用例生成页面。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大家请看左侧，我们把整个流程拆解为三个关键交互模块：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配置区：这是“输入端”。用户可以方便地输入代码，选择想要的模型，设置链式或普通生成策略，确保AI理解我们的意图。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结果区：这是“输出端”。页面右侧会实时展示AI写好的代码，最关键的是，系统不是只给代码，还附带了自动评估的分数、改进建议，以及最重要的代码覆盖率统计。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迭代优化：这是“反馈端”。如果对结果不满意，点击“再次生成”，系统会利用刚才的评估数据进行优化。这就构成了一个闭环。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右侧展示的是实际的页面效果。通过这样的设计，我们成功实现了从单纯的“文本生成”到“可视化、可评估、可迭代”的工程化系统的转变，为用户提供了非常直观和高效的体验。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单次生成，系统还提供了强大的历史记录管理功能。在生成记录页面，用户可以查看所有历史生成任务，并且可以根据函数、模型等条件进行筛选。所有记录都可以导出为Excel，方便进行深入的数据分析。这个功能保证了整个测试过程的可追溯性，对于项目管理和质量分析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系统的实现依赖于几项关键技术。首先是提示词工程，我们设计了灵活的提示词模板，能够根据不同的输入和策略动态生成高质量的提示。其次是模型调用的规范化，确保了不同模型返回结果的格式统一。此外，我们成功集成了coverage.py工具，实现了代码覆盖率的自动统计。最后，通过设计链式的数据结构，我们实现了测试用例的迭代优化机制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了验证系统的有效性，我们进行了一系列实验。系统支持批量生成任务，可以方便地对比不同模型和策略的效果。实验结果显示，我们的系统能够成功执行生成的测试代码并统计覆盖率。从模型对比来看，不同模型在速度和质量上各有优劣。总的来说，实验数据证明，我们提出的链式思维提示和迭代优化流程，确实能够有效提升测试用例的生成质量和代码覆盖率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了验证系统的有效性，我们进行了一系列实验。系统支持批量生成任务，可以方便地对比不同模型和策略的效果。实验结果显示，我们的系统能够成功执行生成的测试代码并统计覆盖率。从模型对比来看，不同模型在速度和质量上各有优劣。总的来说，实验数据证明，我们提出的链式思维提示和迭代优化流程，确实能够有效提升测试用例的生成质量和代码覆盖率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最后，对本次研究进行总结与展望。我们成功构建了一个完整的、工程化的测试用例生成系统，实现了多种生成策略和量化评估机制，并开发了一个可复用的系统原型。展望未来，我们计划扩展对Java等其他编程语言的支持，进一步优化提示词并尝试模型微调，引入更智能的反馈机制，并增强系统的团队协作功能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我的汇报到此结束。感谢各位老师的耐心聆听，恳请各位老师批评指正。谢谢大家！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13.xml"/><Relationship Id="rId2" Type="http://schemas.openxmlformats.org/officeDocument/2006/relationships/tags" Target="../tags/tag2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7.png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0.png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16.png"/><Relationship Id="rId20" Type="http://schemas.openxmlformats.org/officeDocument/2006/relationships/tags" Target="../tags/tag25.xml"/><Relationship Id="rId2" Type="http://schemas.openxmlformats.org/officeDocument/2006/relationships/tags" Target="../tags/tag15.xml"/><Relationship Id="rId19" Type="http://schemas.openxmlformats.org/officeDocument/2006/relationships/image" Target="../media/image15.svg"/><Relationship Id="rId18" Type="http://schemas.openxmlformats.org/officeDocument/2006/relationships/image" Target="../media/image14.png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image" Target="../media/image13.svg"/><Relationship Id="rId13" Type="http://schemas.openxmlformats.org/officeDocument/2006/relationships/image" Target="../media/image12.png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0" y="0"/>
            <a:ext cx="12192000" cy="10795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73100" y="317500"/>
            <a:ext cx="36576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本科毕业设计答辩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866900"/>
            <a:ext cx="10604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基于大语言模型推理的函数级代码测试用例生成系统设计与实现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49300" y="3048000"/>
            <a:ext cx="96901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8A94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Design and Implementation of a Function-Level Code Test Case Generation System Based on Large Language Models</a:t>
            </a:r>
            <a:endParaRPr lang="en-US" sz="1100"/>
          </a:p>
        </p:txBody>
      </p:sp>
      <p:grpSp>
        <p:nvGrpSpPr>
          <p:cNvPr id="18" name="组合 17"/>
          <p:cNvGrpSpPr/>
          <p:nvPr/>
        </p:nvGrpSpPr>
        <p:grpSpPr>
          <a:xfrm>
            <a:off x="6949440" y="3842385"/>
            <a:ext cx="3777615" cy="2145665"/>
            <a:chOff x="13240" y="5980"/>
            <a:chExt cx="4840" cy="2220"/>
          </a:xfrm>
        </p:grpSpPr>
        <p:sp>
          <p:nvSpPr>
            <p:cNvPr id="7" name="AutoShape 7"/>
            <p:cNvSpPr/>
            <p:nvPr/>
          </p:nvSpPr>
          <p:spPr>
            <a:xfrm>
              <a:off x="13240" y="5980"/>
              <a:ext cx="2300" cy="72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D7DFEA">
                  <a:alpha val="100000"/>
                </a:srgbClr>
              </a:solidFill>
              <a:prstDash val="solid"/>
              <a:miter lim="10000000"/>
            </a:ln>
          </p:spPr>
          <p:txBody>
            <a:bodyPr vert="horz" wrap="square" lIns="1016" tIns="1016" rIns="1016" bIns="1016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1F3A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function()</a:t>
              </a:r>
              <a:endParaRPr lang="en-US" sz="1100"/>
            </a:p>
          </p:txBody>
        </p:sp>
        <p:cxnSp>
          <p:nvCxnSpPr>
            <p:cNvPr id="8" name="Connector 8"/>
            <p:cNvCxnSpPr/>
            <p:nvPr/>
          </p:nvCxnSpPr>
          <p:spPr>
            <a:xfrm rot="26">
              <a:off x="15620" y="6340"/>
              <a:ext cx="80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sq" cmpd="sng">
              <a:solidFill>
                <a:srgbClr val="3D6EA5">
                  <a:alpha val="100000"/>
                </a:srgbClr>
              </a:solidFill>
              <a:prstDash val="solid"/>
              <a:miter lim="10000000"/>
              <a:headEnd type="none" w="med" len="med"/>
              <a:tailEnd type="triangle" w="med" len="med"/>
            </a:ln>
          </p:spPr>
        </p:cxnSp>
        <p:sp>
          <p:nvSpPr>
            <p:cNvPr id="9" name="AutoShape 9"/>
            <p:cNvSpPr/>
            <p:nvPr/>
          </p:nvSpPr>
          <p:spPr>
            <a:xfrm>
              <a:off x="16480" y="5980"/>
              <a:ext cx="1360" cy="720"/>
            </a:xfrm>
            <a:prstGeom prst="roundRect">
              <a:avLst>
                <a:gd name="adj" fmla="val 0"/>
              </a:avLst>
            </a:prstGeom>
            <a:solidFill>
              <a:srgbClr val="EAF1FA">
                <a:alpha val="100000"/>
              </a:srgbClr>
            </a:solidFill>
            <a:ln w="12700" cap="flat" cmpd="sng">
              <a:solidFill>
                <a:srgbClr val="C7D6EA">
                  <a:alpha val="100000"/>
                </a:srgbClr>
              </a:solidFill>
              <a:prstDash val="solid"/>
              <a:miter lim="10000000"/>
            </a:ln>
          </p:spPr>
          <p:txBody>
            <a:bodyPr vert="horz" wrap="square" lIns="1016" tIns="1016" rIns="1016" bIns="1016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1F3A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LLM</a:t>
              </a:r>
              <a:endParaRPr lang="en-US" sz="1100"/>
            </a:p>
          </p:txBody>
        </p:sp>
        <p:cxnSp>
          <p:nvCxnSpPr>
            <p:cNvPr id="10" name="Connector 10"/>
            <p:cNvCxnSpPr/>
            <p:nvPr/>
          </p:nvCxnSpPr>
          <p:spPr>
            <a:xfrm rot="5203650">
              <a:off x="16820" y="7100"/>
              <a:ext cx="70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sq" cmpd="sng">
              <a:solidFill>
                <a:srgbClr val="3D6EA5">
                  <a:alpha val="100000"/>
                </a:srgbClr>
              </a:solidFill>
              <a:prstDash val="solid"/>
              <a:miter lim="10000000"/>
              <a:headEnd type="none" w="med" len="med"/>
              <a:tailEnd type="triangle" w="med" len="med"/>
            </a:ln>
          </p:spPr>
        </p:cxnSp>
        <p:sp>
          <p:nvSpPr>
            <p:cNvPr id="11" name="AutoShape 11"/>
            <p:cNvSpPr/>
            <p:nvPr/>
          </p:nvSpPr>
          <p:spPr>
            <a:xfrm>
              <a:off x="15200" y="7480"/>
              <a:ext cx="2880" cy="72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D7DFEA">
                  <a:alpha val="100000"/>
                </a:srgbClr>
              </a:solidFill>
              <a:prstDash val="solid"/>
              <a:miter lim="10000000"/>
            </a:ln>
          </p:spPr>
          <p:txBody>
            <a:bodyPr vert="horz" wrap="square" lIns="1016" tIns="1016" rIns="1016" bIns="1016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1F3A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Test Cases</a:t>
              </a:r>
              <a:endParaRPr lang="en-US" sz="1100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787400" y="3962400"/>
            <a:ext cx="53975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学生姓名：黄永娇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7400" y="4254500"/>
            <a:ext cx="53975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专业：软件工程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87400" y="4533900"/>
            <a:ext cx="53975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班级：13002203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" y="4813300"/>
            <a:ext cx="53975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指导教师：黄江平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7400" y="5105400"/>
            <a:ext cx="53975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学院：计算机科学与技术学院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87400" y="5384800"/>
            <a:ext cx="53975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日期：2026年5月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1188700" y="6426200"/>
            <a:ext cx="8001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596900" y="304800"/>
            <a:ext cx="8966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2300" y="698500"/>
            <a:ext cx="85979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CONTENTS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23">
            <a:off x="2044700" y="2057402"/>
            <a:ext cx="53355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6" name="Connector 6"/>
          <p:cNvCxnSpPr/>
          <p:nvPr/>
        </p:nvCxnSpPr>
        <p:spPr>
          <a:xfrm rot="21">
            <a:off x="4064000" y="2057402"/>
            <a:ext cx="54624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7" name="Connector 7"/>
          <p:cNvCxnSpPr/>
          <p:nvPr/>
        </p:nvCxnSpPr>
        <p:spPr>
          <a:xfrm rot="21">
            <a:off x="6096000" y="2057402"/>
            <a:ext cx="54624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8" name="Connector 8"/>
          <p:cNvCxnSpPr/>
          <p:nvPr/>
        </p:nvCxnSpPr>
        <p:spPr>
          <a:xfrm rot="21">
            <a:off x="8128000" y="2057402"/>
            <a:ext cx="54624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9" name="AutoShape 9"/>
          <p:cNvSpPr/>
          <p:nvPr/>
        </p:nvSpPr>
        <p:spPr>
          <a:xfrm>
            <a:off x="711200" y="1701800"/>
            <a:ext cx="14478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研究背景与动机</a:t>
            </a:r>
            <a:endParaRPr lang="en-US" sz="12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743200" y="1701800"/>
            <a:ext cx="1447800" cy="7112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系统总体设计</a:t>
            </a:r>
            <a:endParaRPr lang="en-US" sz="12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775200" y="1701800"/>
            <a:ext cx="1447800" cy="7112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系统功能实现</a:t>
            </a:r>
            <a:endParaRPr lang="en-US" sz="12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807200" y="1701800"/>
            <a:ext cx="1447800" cy="7112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实验结果与分析</a:t>
            </a:r>
            <a:endParaRPr lang="en-US" sz="12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39200" y="1701800"/>
            <a:ext cx="1447800" cy="7112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总结与展望</a:t>
            </a:r>
            <a:endParaRPr lang="en-US" sz="12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25500" y="292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254000" tIns="190500" rIns="254000" bIns="1905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01 研究背景与动机</a:t>
            </a:r>
            <a:br>
              <a:rPr lang="en-US" sz="1300" b="0" i="0" u="none" strike="noStrike">
                <a:solidFill>
                  <a:srgbClr val="5660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660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传统单元测试的挑战与大语言模型的机遇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02 系统总体设计</a:t>
            </a:r>
            <a:br>
              <a:rPr lang="en-US" sz="1300" b="0" i="0" u="none" strike="noStrike">
                <a:solidFill>
                  <a:srgbClr val="5660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660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设计目标、总体架构与核心业务流程解析</a:t>
            </a:r>
            <a:endParaRPr lang="en-US" sz="1300" b="0" i="0" u="none" strike="noStrike">
              <a:solidFill>
                <a:srgbClr val="5660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03 系统功能实现</a:t>
            </a:r>
            <a:br>
              <a:rPr lang="en-US" sz="1300" b="0" i="0" u="none" strike="noStrike">
                <a:solidFill>
                  <a:srgbClr val="5660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660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核心功能模块展示与关键技术难点突破</a:t>
            </a:r>
            <a:endParaRPr lang="en-US" sz="1300" b="0" i="0" u="none" strike="noStrike">
              <a:solidFill>
                <a:srgbClr val="5660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292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254000" tIns="190500" rIns="254000" bIns="1905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04 实验结果与分析</a:t>
            </a:r>
            <a:br>
              <a:rPr lang="en-US" sz="1300" b="0" i="0" u="none" strike="noStrike">
                <a:solidFill>
                  <a:srgbClr val="5660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660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批量生成测试、代码覆盖率统计与用例质量分析结果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05 总结与展望</a:t>
            </a:r>
            <a:br>
              <a:rPr lang="en-US" sz="1300" b="0" i="0" u="none" strike="noStrike">
                <a:solidFill>
                  <a:srgbClr val="5660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660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研究成果总结回顾与未来工作方向展望</a:t>
            </a:r>
            <a:endParaRPr lang="en-US" sz="1300" b="0" i="0" u="none" strike="noStrike">
              <a:solidFill>
                <a:srgbClr val="5660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1188700" y="6426200"/>
            <a:ext cx="8001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596900" y="304800"/>
            <a:ext cx="8966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研究背景与动机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2300" y="698500"/>
            <a:ext cx="85979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从人工编写到大模型辅助生成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">
            <a:off x="1879600" y="2082801"/>
            <a:ext cx="86369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8A94A6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6" name="Connector 6"/>
          <p:cNvCxnSpPr/>
          <p:nvPr/>
        </p:nvCxnSpPr>
        <p:spPr>
          <a:xfrm rot="5">
            <a:off x="3619500" y="2082801"/>
            <a:ext cx="86369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8A94A6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7" name="Connector 7"/>
          <p:cNvCxnSpPr/>
          <p:nvPr/>
        </p:nvCxnSpPr>
        <p:spPr>
          <a:xfrm rot="5">
            <a:off x="1879600" y="2781301"/>
            <a:ext cx="86369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8" name="Connector 8"/>
          <p:cNvCxnSpPr/>
          <p:nvPr/>
        </p:nvCxnSpPr>
        <p:spPr>
          <a:xfrm rot="5">
            <a:off x="3619500" y="2781301"/>
            <a:ext cx="86369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9" name="Connector 9"/>
          <p:cNvCxnSpPr/>
          <p:nvPr/>
        </p:nvCxnSpPr>
        <p:spPr>
          <a:xfrm rot="5">
            <a:off x="5359400" y="2781301"/>
            <a:ext cx="86369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0"/>
          <p:cNvSpPr/>
          <p:nvPr/>
        </p:nvSpPr>
        <p:spPr>
          <a:xfrm>
            <a:off x="749300" y="1333500"/>
            <a:ext cx="27432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人工编写测试用例流程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49300" y="1841500"/>
            <a:ext cx="1079500" cy="469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ED6E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" tIns="1016" rIns="1016" bIns="1016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阅读代码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794000" y="1841500"/>
            <a:ext cx="1079500" cy="469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ED6E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" tIns="1016" rIns="1016" bIns="1016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设计输入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1841500"/>
            <a:ext cx="1079500" cy="469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ED6E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" tIns="1016" rIns="1016" bIns="1016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编写断言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49300" y="3238500"/>
            <a:ext cx="27432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LLM 辅助生成流程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49300" y="2540000"/>
            <a:ext cx="1079500" cy="4699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" tIns="1016" rIns="1016" bIns="1016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函数输入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794000" y="2540000"/>
            <a:ext cx="1079500" cy="4699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" tIns="1016" rIns="1016" bIns="1016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提示分析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72000" y="2540000"/>
            <a:ext cx="1079500" cy="4699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" tIns="1016" rIns="1016" bIns="1016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生成用例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86500" y="2540000"/>
            <a:ext cx="1079500" cy="4699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" tIns="1016" rIns="1016" bIns="1016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评估记录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9300" y="3911600"/>
            <a:ext cx="106553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41400" y="4292600"/>
            <a:ext cx="10007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问题聚焦：测试用例设计耗时耗力，且难以保证全面性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188700" y="6426200"/>
            <a:ext cx="8001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/>
          <p:cNvSpPr/>
          <p:nvPr/>
        </p:nvSpPr>
        <p:spPr>
          <a:xfrm>
            <a:off x="749300" y="1651000"/>
            <a:ext cx="10680700" cy="1905000"/>
          </a:xfrm>
          <a:prstGeom prst="roundRect">
            <a:avLst>
              <a:gd name="adj" fmla="val 10666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3D6E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596900" y="304800"/>
            <a:ext cx="10922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研究背景与动机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96900" y="889000"/>
            <a:ext cx="10922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大语言模型的机遇与研究切入点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39800" y="1841500"/>
            <a:ext cx="5842000" cy="152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✨ 大模型核心优势：</a:t>
            </a:r>
            <a:endParaRPr lang="en-US" sz="1300" b="1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34B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强大的代码理解与生成能力：</a:t>
            </a:r>
            <a:endParaRPr lang="en-US" sz="1200" b="0" i="0" u="none" strike="noStrike">
              <a:solidFill>
                <a:srgbClr val="434B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45720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34B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能理解复杂代码逻辑并生成测试用例，远超传统工具。</a:t>
            </a:r>
            <a:endParaRPr lang="en-US" sz="1200" b="0" i="0" u="none" strike="noStrike">
              <a:solidFill>
                <a:srgbClr val="434B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457200" algn="l">
              <a:lnSpc>
                <a:spcPct val="108000"/>
              </a:lnSpc>
            </a:pPr>
            <a:endParaRPr lang="en-US" sz="1200" b="0" i="0" u="none" strike="noStrike">
              <a:solidFill>
                <a:srgbClr val="434B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34B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链式思维 (CoT) 能力：</a:t>
            </a:r>
            <a:endParaRPr lang="en-US" sz="1200" b="0" i="0" u="none" strike="noStrike">
              <a:solidFill>
                <a:srgbClr val="434B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45720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34B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引导模型像人工测试一样，先逻辑分析再生成用例，更贴合实际。</a:t>
            </a:r>
            <a:endParaRPr lang="en-US" sz="1200" b="0" i="0" u="none" strike="noStrike">
              <a:solidFill>
                <a:srgbClr val="434B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49300" y="3937000"/>
            <a:ext cx="10680700" cy="1778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3D6EA5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10160000" cy="127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机遇：LLM 为自动化测试带来新范式，本研究旨在构建“生成-评估-迭代”的工程化闭环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将 LLM 的生成潜力转化为可靠的工程生产力，提升测试用例的质量与效率</a:t>
            </a:r>
            <a:endParaRPr lang="en-US" sz="14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96900" y="5969000"/>
            <a:ext cx="1066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“大语言模型不仅是生成工具，更是自动化测试范式变革的推动者。”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5969000"/>
            <a:ext cx="762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596900" y="304800"/>
            <a:ext cx="8966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2300" y="698500"/>
            <a:ext cx="85979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前后端分离 · 多模型可配置 · 覆盖率统计工具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4">
            <a:off x="2768600" y="1828801"/>
            <a:ext cx="93988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6" name="Connector 6"/>
          <p:cNvCxnSpPr/>
          <p:nvPr/>
        </p:nvCxnSpPr>
        <p:spPr>
          <a:xfrm rot="4">
            <a:off x="6388100" y="1828801"/>
            <a:ext cx="9144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7" name="Connector 7"/>
          <p:cNvCxnSpPr/>
          <p:nvPr/>
        </p:nvCxnSpPr>
        <p:spPr>
          <a:xfrm rot="4">
            <a:off x="6388100" y="3543301"/>
            <a:ext cx="9144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2F7D6B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8" name="Connector 8"/>
          <p:cNvCxnSpPr/>
          <p:nvPr/>
        </p:nvCxnSpPr>
        <p:spPr>
          <a:xfrm rot="4">
            <a:off x="6388100" y="5041901"/>
            <a:ext cx="9144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7922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9" name="AutoShape 9"/>
          <p:cNvSpPr/>
          <p:nvPr/>
        </p:nvSpPr>
        <p:spPr>
          <a:xfrm>
            <a:off x="736600" y="1143000"/>
            <a:ext cx="20066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ED6E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前端表示层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Vue3 / Element Plus / Vite</a:t>
            </a:r>
            <a:endParaRPr lang="en-US" sz="10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746500" y="1130300"/>
            <a:ext cx="2578100" cy="14224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后端服务层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Spring Boot / MyBatis</a:t>
            </a:r>
            <a:endParaRPr lang="en-US" sz="10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327900" y="1143000"/>
            <a:ext cx="20574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ED6E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数据持久层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MySQL 数据库</a:t>
            </a:r>
            <a:endParaRPr lang="en-US" sz="10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327900" y="2794000"/>
            <a:ext cx="20574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ED6E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模型服务集成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外部大语言模型 API</a:t>
            </a:r>
            <a:endParaRPr lang="en-US" sz="10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327900" y="4318000"/>
            <a:ext cx="20574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ED6E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覆盖率统计工具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集成 coverage.py</a:t>
            </a:r>
            <a:endParaRPr lang="en-US" sz="10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652000" y="2794000"/>
            <a:ext cx="1651000" cy="1524000"/>
          </a:xfrm>
          <a:prstGeom prst="roundRect">
            <a:avLst>
              <a:gd name="adj" fmla="val 0"/>
            </a:avLst>
          </a:prstGeom>
          <a:solidFill>
            <a:srgbClr val="F1F4F8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127000" tIns="127000" rIns="127000" bIns="12700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技术体系闭环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数据持久化 · 智能生成 · 质量评估</a:t>
            </a:r>
            <a:endParaRPr lang="en-US" sz="11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1188700" y="6426200"/>
            <a:ext cx="8001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596900" y="304800"/>
            <a:ext cx="8966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核心业务流程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2300" y="698500"/>
            <a:ext cx="85979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实现“生成 - 评估 - 记录 - 迭代”的闭环，多模块协同提升测试用例质量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1">
            <a:off x="1917700" y="1828800"/>
            <a:ext cx="137165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6" name="Connector 6"/>
          <p:cNvCxnSpPr/>
          <p:nvPr/>
        </p:nvCxnSpPr>
        <p:spPr>
          <a:xfrm rot="1">
            <a:off x="4851400" y="1828800"/>
            <a:ext cx="132086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7" name="Connector 7"/>
          <p:cNvCxnSpPr/>
          <p:nvPr/>
        </p:nvCxnSpPr>
        <p:spPr>
          <a:xfrm rot="2">
            <a:off x="7721600" y="1828800"/>
            <a:ext cx="119386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8" name="Connector 8"/>
          <p:cNvCxnSpPr/>
          <p:nvPr/>
        </p:nvCxnSpPr>
        <p:spPr>
          <a:xfrm rot="1">
            <a:off x="4851400" y="3111500"/>
            <a:ext cx="132086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2F7D6B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9" name="Connector 9"/>
          <p:cNvCxnSpPr/>
          <p:nvPr/>
        </p:nvCxnSpPr>
        <p:spPr>
          <a:xfrm rot="2">
            <a:off x="7721600" y="3111500"/>
            <a:ext cx="119386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2F7D6B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0" name="Connector 10"/>
          <p:cNvCxnSpPr/>
          <p:nvPr/>
        </p:nvCxnSpPr>
        <p:spPr>
          <a:xfrm rot="5232363">
            <a:off x="5232324" y="4419677"/>
            <a:ext cx="5208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7922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1" name="AutoShape 11"/>
          <p:cNvSpPr/>
          <p:nvPr/>
        </p:nvSpPr>
        <p:spPr>
          <a:xfrm>
            <a:off x="711200" y="1409700"/>
            <a:ext cx="1587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用例生成</a:t>
            </a:r>
            <a:endParaRPr lang="en-US" sz="11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314700" y="1409700"/>
            <a:ext cx="1587500" cy="8636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自动评估</a:t>
            </a:r>
            <a:endParaRPr lang="en-US" sz="11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97600" y="1409700"/>
            <a:ext cx="1587500" cy="8636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记录分析</a:t>
            </a:r>
            <a:endParaRPr lang="en-US" sz="11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940800" y="1409700"/>
            <a:ext cx="1587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再次生成</a:t>
            </a:r>
            <a:endParaRPr lang="en-US" sz="11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11200" y="2692400"/>
            <a:ext cx="1587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函数管理</a:t>
            </a:r>
            <a:endParaRPr lang="en-US" sz="11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314700" y="2692400"/>
            <a:ext cx="1587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模型配置</a:t>
            </a:r>
            <a:endParaRPr lang="en-US" sz="11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97600" y="2692400"/>
            <a:ext cx="1587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结果复用</a:t>
            </a:r>
            <a:endParaRPr lang="en-US" sz="11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940800" y="2692400"/>
            <a:ext cx="1587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批量处理</a:t>
            </a:r>
            <a:endParaRPr lang="en-US" sz="1100" b="0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879600" y="4724400"/>
            <a:ext cx="78613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2146300" y="4876800"/>
            <a:ext cx="7595235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模块关系：模型配置提供调用能力，函数管理提供输入数据，生成与评估形成核心闭环，记录导出和用例分析支撑结果复用。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188700" y="6426200"/>
            <a:ext cx="8001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96900" y="381000"/>
            <a:ext cx="109982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系统功能实现：用例生成页面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2051050" y="1308100"/>
            <a:ext cx="2750185" cy="73787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7750" y="1527175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2870200" y="1463040"/>
            <a:ext cx="1714500" cy="470535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左侧：参数配置区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5372100" y="1308100"/>
            <a:ext cx="2750185" cy="73787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00700" y="15621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10"/>
            </p:custDataLst>
          </p:nvPr>
        </p:nvSpPr>
        <p:spPr>
          <a:xfrm>
            <a:off x="6090285" y="1340485"/>
            <a:ext cx="1714500" cy="705485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右侧：实时结果区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8433435" y="4018915"/>
            <a:ext cx="2750185" cy="72453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62035" y="4272915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5"/>
            </p:custDataLst>
          </p:nvPr>
        </p:nvSpPr>
        <p:spPr>
          <a:xfrm>
            <a:off x="9246870" y="4133215"/>
            <a:ext cx="1936750" cy="610235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交互：一键迭代优化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t="577" b="577"/>
          <a:stretch>
            <a:fillRect/>
          </a:stretch>
        </p:blipFill>
        <p:spPr>
          <a:xfrm>
            <a:off x="1143000" y="2197735"/>
            <a:ext cx="7188835" cy="373888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11430000" y="6477000"/>
            <a:ext cx="508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13" name="直接箭头连接符 12"/>
          <p:cNvCxnSpPr/>
          <p:nvPr>
            <p:custDataLst>
              <p:tags r:id="rId18"/>
            </p:custDataLst>
          </p:nvPr>
        </p:nvCxnSpPr>
        <p:spPr>
          <a:xfrm flipH="1">
            <a:off x="3319780" y="2073275"/>
            <a:ext cx="6350" cy="355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>
            <p:custDataLst>
              <p:tags r:id="rId19"/>
            </p:custDataLst>
          </p:nvPr>
        </p:nvCxnSpPr>
        <p:spPr>
          <a:xfrm flipH="1">
            <a:off x="6805930" y="2035175"/>
            <a:ext cx="31750" cy="431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>
            <p:custDataLst>
              <p:tags r:id="rId20"/>
            </p:custDataLst>
          </p:nvPr>
        </p:nvCxnSpPr>
        <p:spPr>
          <a:xfrm flipH="1" flipV="1">
            <a:off x="8171180" y="4346575"/>
            <a:ext cx="419100" cy="101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96900" y="304800"/>
            <a:ext cx="109982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系统功能实现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96900" y="1016000"/>
            <a:ext cx="109982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历史追溯：生成记录页面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596900" y="1778000"/>
            <a:ext cx="1737995" cy="59118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064" y="1980164"/>
            <a:ext cx="188012" cy="188012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243825" y="1939731"/>
            <a:ext cx="1091011" cy="2345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集中管理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9338310" y="1778000"/>
            <a:ext cx="1951355" cy="59118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40251" y="1980164"/>
            <a:ext cx="188012" cy="188012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9985011" y="1939731"/>
            <a:ext cx="1091011" cy="2345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多维度筛选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596900" y="5824855"/>
            <a:ext cx="1737995" cy="64897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9064" y="6026807"/>
            <a:ext cx="188012" cy="188012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1243825" y="5986374"/>
            <a:ext cx="1091011" cy="2345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结果导出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9362440" y="5883275"/>
            <a:ext cx="1951355" cy="64897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64381" y="6085227"/>
            <a:ext cx="188012" cy="188012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10009141" y="6044794"/>
            <a:ext cx="1091011" cy="2345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状态可视化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1"/>
          <a:srcRect t="2487" b="2487"/>
          <a:stretch>
            <a:fillRect/>
          </a:stretch>
        </p:blipFill>
        <p:spPr>
          <a:xfrm>
            <a:off x="2334895" y="2369185"/>
            <a:ext cx="7027545" cy="3514090"/>
          </a:xfrm>
          <a:prstGeom prst="rect">
            <a:avLst/>
          </a:prstGeom>
          <a:noFill/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596900" y="304800"/>
            <a:ext cx="8966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2300" y="698500"/>
            <a:ext cx="85979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支撑系统高效运行的核心技术方案解析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23">
            <a:off x="2044700" y="2057402"/>
            <a:ext cx="53355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6" name="Connector 6"/>
          <p:cNvCxnSpPr/>
          <p:nvPr/>
        </p:nvCxnSpPr>
        <p:spPr>
          <a:xfrm rot="21">
            <a:off x="4064000" y="2057402"/>
            <a:ext cx="54624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7" name="Connector 7"/>
          <p:cNvCxnSpPr/>
          <p:nvPr/>
        </p:nvCxnSpPr>
        <p:spPr>
          <a:xfrm rot="21">
            <a:off x="6096000" y="2057402"/>
            <a:ext cx="54624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8" name="Connector 8"/>
          <p:cNvCxnSpPr/>
          <p:nvPr/>
        </p:nvCxnSpPr>
        <p:spPr>
          <a:xfrm rot="21">
            <a:off x="8128000" y="2057402"/>
            <a:ext cx="54624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D6EA5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9" name="AutoShape 9"/>
          <p:cNvSpPr/>
          <p:nvPr/>
        </p:nvSpPr>
        <p:spPr>
          <a:xfrm>
            <a:off x="711200" y="1701800"/>
            <a:ext cx="14478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" tIns="635" rIns="635" bIns="635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提示词工程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动态构造/质量控制</a:t>
            </a:r>
            <a:endParaRPr lang="en-US" sz="10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743200" y="1701800"/>
            <a:ext cx="1447800" cy="7112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" tIns="635" rIns="635" bIns="635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模型调用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API调用/结果归一化</a:t>
            </a:r>
            <a:endParaRPr lang="en-US" sz="10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775200" y="1701800"/>
            <a:ext cx="1447800" cy="7112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" tIns="635" rIns="635" bIns="635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覆盖率统计</a:t>
            </a:r>
            <a:endParaRPr lang="en-US" sz="10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915150" y="1701800"/>
            <a:ext cx="1447800" cy="7112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" tIns="635" rIns="635" bIns="635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迭代优化</a:t>
            </a:r>
            <a:endParaRPr lang="en-US" sz="10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39200" y="1701800"/>
            <a:ext cx="1447800" cy="7112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C7D6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" tIns="635" rIns="635" bIns="635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综合成效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流程闭环/质量保障</a:t>
            </a:r>
            <a:endParaRPr lang="en-US" sz="10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841750" y="3048000"/>
            <a:ext cx="4521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108450" y="3302000"/>
            <a:ext cx="3810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技术架构亮点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108450" y="3937000"/>
            <a:ext cx="1778000" cy="508000"/>
          </a:xfrm>
          <a:prstGeom prst="roundRect">
            <a:avLst>
              <a:gd name="adj" fmla="val 0"/>
            </a:avLst>
          </a:prstGeom>
          <a:solidFill>
            <a:srgbClr val="EEF4FB">
              <a:alpha val="100000"/>
            </a:srgbClr>
          </a:solidFill>
          <a:ln w="12700" cap="flat" cmpd="sng">
            <a:solidFill>
              <a:srgbClr val="C9D7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灵活的Prompt模板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76950" y="3937000"/>
            <a:ext cx="1778000" cy="508000"/>
          </a:xfrm>
          <a:prstGeom prst="roundRect">
            <a:avLst>
              <a:gd name="adj" fmla="val 0"/>
            </a:avLst>
          </a:prstGeom>
          <a:solidFill>
            <a:srgbClr val="EEF4FB">
              <a:alpha val="100000"/>
            </a:srgbClr>
          </a:solidFill>
          <a:ln w="12700" cap="flat" cmpd="sng">
            <a:solidFill>
              <a:srgbClr val="C9D7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API 接口标准化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108450" y="4826000"/>
            <a:ext cx="1778000" cy="508000"/>
          </a:xfrm>
          <a:prstGeom prst="roundRect">
            <a:avLst>
              <a:gd name="adj" fmla="val 0"/>
            </a:avLst>
          </a:prstGeom>
          <a:solidFill>
            <a:srgbClr val="E8F8F2">
              <a:alpha val="100000"/>
            </a:srgbClr>
          </a:solidFill>
          <a:ln w="12700" cap="flat" cmpd="sng">
            <a:solidFill>
              <a:srgbClr val="B1D6C5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2F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自动化覆盖率分析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076950" y="4826000"/>
            <a:ext cx="1778000" cy="508000"/>
          </a:xfrm>
          <a:prstGeom prst="roundRect">
            <a:avLst>
              <a:gd name="adj" fmla="val 0"/>
            </a:avLst>
          </a:prstGeom>
          <a:solidFill>
            <a:srgbClr val="E8F8F2">
              <a:alpha val="100000"/>
            </a:srgbClr>
          </a:solidFill>
          <a:ln w="12700" cap="flat" cmpd="sng">
            <a:solidFill>
              <a:srgbClr val="B1D6C5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2F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历史记录全链路追踪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188700" y="6426200"/>
            <a:ext cx="8001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sz="11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65" y="3048000"/>
            <a:ext cx="3588385" cy="342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100" y="3048000"/>
            <a:ext cx="2190750" cy="1454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596900" y="304800"/>
            <a:ext cx="8966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实验结果与分析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2300" y="698500"/>
            <a:ext cx="85979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批量生成任务与模型对比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49300" y="1155700"/>
            <a:ext cx="1828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实验支撑能力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38200" y="1536700"/>
            <a:ext cx="5080000" cy="1003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" tIns="508" rIns="508" bIns="508" rtlCol="0" anchor="t" anchorCtr="0"/>
          <a:lstStyle/>
          <a:p>
            <a:pPr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49300" y="5727700"/>
            <a:ext cx="9969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结论：</a:t>
            </a:r>
            <a:r>
              <a:rPr lang="en-US" sz="12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实验数据表明，结合链式思维提示和迭代优化流程，能够有效提升测试用例的生成质量和代码覆盖率。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1188700" y="6426200"/>
            <a:ext cx="8001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endParaRPr lang="en-US" sz="1100"/>
          </a:p>
        </p:txBody>
      </p:sp>
      <p:pic>
        <p:nvPicPr>
          <p:cNvPr id="37" name="图片 4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680" y="1217930"/>
            <a:ext cx="6548755" cy="3444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AutoShape 5"/>
          <p:cNvSpPr/>
          <p:nvPr/>
        </p:nvSpPr>
        <p:spPr>
          <a:xfrm>
            <a:off x="749300" y="4914900"/>
            <a:ext cx="1828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</a:t>
            </a:r>
            <a:r>
              <a:rPr lang="zh-CN" altLang="en-US" sz="9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数据源</a:t>
            </a:r>
            <a:endParaRPr lang="zh-CN" altLang="en-US" sz="900" b="1" i="0" u="none" strike="noStrike">
              <a:solidFill>
                <a:srgbClr val="3D6E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84680" y="5232400"/>
            <a:ext cx="52470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选取了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HumanEval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MBPP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等公开函数集的函数作为测试对象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596900" y="304800"/>
            <a:ext cx="8966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实验结果与分析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2300" y="698500"/>
            <a:ext cx="85979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批量生成任务与模型对比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04850" y="1155700"/>
            <a:ext cx="1828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实验支撑能力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93750" y="4311650"/>
            <a:ext cx="21082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3D6E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模型对比结果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780665" y="4597400"/>
            <a:ext cx="1511300" cy="4191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对比对象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279265" y="4597400"/>
            <a:ext cx="1422400" cy="4191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主要结果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01665" y="4597400"/>
            <a:ext cx="2298700" cy="419100"/>
          </a:xfrm>
          <a:prstGeom prst="roundRect">
            <a:avLst>
              <a:gd name="adj" fmla="val 0"/>
            </a:avLst>
          </a:prstGeom>
          <a:solidFill>
            <a:srgbClr val="EAF1FA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说明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780665" y="5016500"/>
            <a:ext cx="15113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deepseek-chat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279265" y="5016500"/>
            <a:ext cx="14224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平均耗时最低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701665" y="5016500"/>
            <a:ext cx="22987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响应速度快，适合高频调用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780665" y="5435600"/>
            <a:ext cx="15113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doubao-seed-2-6-pro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279265" y="5435600"/>
            <a:ext cx="14224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平均评估分数最高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701665" y="5435600"/>
            <a:ext cx="22987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生成代码质量更稳定，可执行性强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780665" y="5854700"/>
            <a:ext cx="15113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glm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279265" y="5854700"/>
            <a:ext cx="14224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单次输出内容较长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701665" y="5854700"/>
            <a:ext cx="22987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381" tIns="381" rIns="381" bIns="381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包含信息丰富，但整体响应延时较高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1188700" y="6426200"/>
            <a:ext cx="8001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endParaRPr lang="en-US" sz="1100"/>
          </a:p>
        </p:txBody>
      </p:sp>
      <p:graphicFrame>
        <p:nvGraphicFramePr>
          <p:cNvPr id="36" name="表格 35"/>
          <p:cNvGraphicFramePr/>
          <p:nvPr/>
        </p:nvGraphicFramePr>
        <p:xfrm>
          <a:off x="1814195" y="1588770"/>
          <a:ext cx="7686040" cy="2589530"/>
        </p:xfrm>
        <a:graphic>
          <a:graphicData uri="http://schemas.openxmlformats.org/drawingml/2006/table">
            <a:tbl>
              <a:tblPr/>
              <a:tblGrid>
                <a:gridCol w="1626870"/>
                <a:gridCol w="629920"/>
                <a:gridCol w="1123950"/>
                <a:gridCol w="1013460"/>
                <a:gridCol w="1006475"/>
                <a:gridCol w="1104900"/>
                <a:gridCol w="1180465"/>
              </a:tblGrid>
              <a:tr h="381000"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模型名称</a:t>
                      </a:r>
                      <a:endParaRPr lang="en-US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记录数量</a:t>
                      </a:r>
                      <a:endParaRPr lang="en-US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平均输入</a:t>
                      </a: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Token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平均输出</a:t>
                      </a: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Token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平均总</a:t>
                      </a: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Token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平均延时</a:t>
                      </a:r>
                      <a:endParaRPr lang="en-US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平均评估分数</a:t>
                      </a:r>
                      <a:endParaRPr lang="en-US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deepseek-chat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200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990.7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719.9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1710.5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10905.8 ms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84.1 </a:t>
                      </a: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分</a:t>
                      </a:r>
                      <a:endParaRPr lang="en-US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doubao-seed-2-0-lite-260215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121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896.2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2745.8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3642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51519.1 ms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85.5 </a:t>
                      </a: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分</a:t>
                      </a:r>
                      <a:endParaRPr lang="en-US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5140"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deepseek-reasoner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85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771.5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1316.1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2087.6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20915.7 ms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84.2 </a:t>
                      </a: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分</a:t>
                      </a:r>
                      <a:endParaRPr lang="en-US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doubao-seed-2-0-pro-260215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66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896.2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2555.7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3451.9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49723.3 ms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87.0 </a:t>
                      </a: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分</a:t>
                      </a:r>
                      <a:endParaRPr lang="en-US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3065"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glm-4-7-251222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57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738.8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3710.4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4449.2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59911.2 ms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83.5 </a:t>
                      </a:r>
                      <a:r>
                        <a:rPr lang="zh-CN" altLang="en-US" sz="1000">
                          <a:latin typeface="Times New Roman" panose="02020603050405020304"/>
                          <a:ea typeface="宋体" panose="02010600030101010101" pitchFamily="2" charset="-122"/>
                        </a:rPr>
                        <a:t>分</a:t>
                      </a:r>
                      <a:endParaRPr lang="en-US" sz="10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-635" marR="-635" marT="-635" marB="-63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596900" y="304800"/>
            <a:ext cx="8966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2300" y="698500"/>
            <a:ext cx="85979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已完成系统闭环，后续继续扩展验证能力与功能边界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1168400"/>
            <a:ext cx="5080000" cy="4025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6350000" y="1168400"/>
            <a:ext cx="5080000" cy="4025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079500" y="1524000"/>
            <a:ext cx="14605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079500" y="2101215"/>
            <a:ext cx="4343400" cy="16338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构建完整工程化流程</a:t>
            </a:r>
            <a:endParaRPr lang="en-US" sz="1200" b="1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en-US" sz="1200" b="1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en-US" sz="1200" b="1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en-US" sz="1200" b="1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实现多策略生成与优化</a:t>
            </a:r>
            <a:endParaRPr lang="en-US" sz="1200" b="1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en-US" sz="12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endParaRPr lang="en-US" sz="1200" b="1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endParaRPr lang="en-US" sz="1200" b="1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03. 建立量化评估机制</a:t>
            </a:r>
            <a:endParaRPr lang="en-US" sz="1200" b="1" i="0" u="none" strike="noStrike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endParaRPr lang="en-US" sz="12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endParaRPr lang="en-US" sz="12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654800" y="1524000"/>
            <a:ext cx="14605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展望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718300" y="2057400"/>
            <a:ext cx="4343400" cy="279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D956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多语言生态扩展：</a:t>
            </a:r>
            <a:endParaRPr lang="en-US" sz="1200" b="1" i="0" u="none" strike="noStrike">
              <a:solidFill>
                <a:srgbClr val="D956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接入 JUnit、JaCoCo 等工具，将支持范围从 Python 扩展至 Java 等主流编程语言。</a:t>
            </a:r>
            <a:endParaRPr lang="en-US" sz="12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D956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模型与提示词优化：</a:t>
            </a:r>
            <a:endParaRPr lang="en-US" sz="1200" b="1" i="0" u="none" strike="noStrike">
              <a:solidFill>
                <a:srgbClr val="D956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探索更高效的提示词工程模板，并尝试针对测试用例生成场景进行模型微调。</a:t>
            </a:r>
            <a:endParaRPr lang="en-US" sz="12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endParaRPr lang="en-US" sz="12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D956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03. 智能反馈机制升级：</a:t>
            </a:r>
            <a:endParaRPr lang="en-US" sz="1200" b="1" i="0" u="none" strike="noStrike">
              <a:solidFill>
                <a:srgbClr val="D956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结合静态程序分析的结果动态优化提示词，进一步提升生成用例的质量。</a:t>
            </a:r>
            <a:endParaRPr lang="en-US" sz="12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endParaRPr lang="en-US" sz="12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D956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04. 团队协作能力增强：</a:t>
            </a:r>
            <a:endParaRPr lang="en-US" sz="1200" b="1" i="0" u="none" strike="noStrike">
              <a:solidFill>
                <a:srgbClr val="D956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6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增加团队协作、测试用例在线评审与版本管理等企业级功能。</a:t>
            </a:r>
            <a:endParaRPr lang="en-US" sz="1200" b="0" i="0" u="none" strike="noStrike">
              <a:solidFill>
                <a:srgbClr val="56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1188700" y="6426200"/>
            <a:ext cx="8001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96900" y="6324600"/>
            <a:ext cx="110109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5DBE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605280" y="4871720"/>
            <a:ext cx="8966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感谢各位老师的聆听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59915" y="1640205"/>
            <a:ext cx="845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DF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543300" y="2407285"/>
            <a:ext cx="5090795" cy="17335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6000" b="1" i="0" u="none" strike="noStrike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188700" y="6426200"/>
            <a:ext cx="8001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END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2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3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4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5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6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7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8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9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10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11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12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13.xml><?xml version="1.0" encoding="utf-8"?>
<p:tagLst xmlns:p="http://schemas.openxmlformats.org/presentationml/2006/main">
  <p:tag name="KSO_WM_DIAGRAM_VIRTUALLY_FRAME" val="{&quot;height&quot;:407,&quot;left&quot;:47,&quot;top&quot;:103,&quot;width&quot;:833.6}"/>
</p:tagLst>
</file>

<file path=ppt/tags/tag14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15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16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17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18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19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20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21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22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23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24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25.xml><?xml version="1.0" encoding="utf-8"?>
<p:tagLst xmlns:p="http://schemas.openxmlformats.org/presentationml/2006/main">
  <p:tag name="KSO_WM_DIAGRAM_VIRTUALLY_FRAME" val="{&quot;height&quot;:374.35,&quot;left&quot;:47,&quot;top&quot;:140,&quot;width&quot;:858.75}"/>
</p:tagLst>
</file>

<file path=ppt/tags/tag26.xml><?xml version="1.0" encoding="utf-8"?>
<p:tagLst xmlns:p="http://schemas.openxmlformats.org/presentationml/2006/main">
  <p:tag name="KSO_WM_DIAGRAM_VIRTUALLY_FRAME" val="{&quot;height&quot;:317,&quot;left&quot;:60,&quot;top&quot;:92,&quot;width&quot;:840}"/>
</p:tagLst>
</file>

<file path=ppt/tags/tag27.xml><?xml version="1.0" encoding="utf-8"?>
<p:tagLst xmlns:p="http://schemas.openxmlformats.org/presentationml/2006/main">
  <p:tag name="KSO_WM_DIAGRAM_VIRTUALLY_FRAME" val="{&quot;height&quot;:317,&quot;left&quot;:60,&quot;top&quot;:92,&quot;width&quot;:840}"/>
</p:tagLst>
</file>

<file path=ppt/tags/tag28.xml><?xml version="1.0" encoding="utf-8"?>
<p:tagLst xmlns:p="http://schemas.openxmlformats.org/presentationml/2006/main">
  <p:tag name="KSO_WM_DIAGRAM_VIRTUALLY_FRAME" val="{&quot;height&quot;:317,&quot;left&quot;:60,&quot;top&quot;:92,&quot;width&quot;:840}"/>
</p:tagLst>
</file>

<file path=ppt/tags/tag29.xml><?xml version="1.0" encoding="utf-8"?>
<p:tagLst xmlns:p="http://schemas.openxmlformats.org/presentationml/2006/main">
  <p:tag name="KSO_WM_DIAGRAM_VIRTUALLY_FRAME" val="{&quot;height&quot;:317,&quot;left&quot;:60,&quot;top&quot;:92,&quot;width&quot;:840}"/>
</p:tagLst>
</file>

<file path=ppt/tags/tag30.xml><?xml version="1.0" encoding="utf-8"?>
<p:tagLst xmlns:p="http://schemas.openxmlformats.org/presentationml/2006/main">
  <p:tag name="KSO_WM_DIAGRAM_VIRTUALLY_FRAME" val="{&quot;height&quot;:317,&quot;left&quot;:60,&quot;top&quot;:92,&quot;width&quot;:840}"/>
</p:tagLst>
</file>

<file path=ppt/tags/tag31.xml><?xml version="1.0" encoding="utf-8"?>
<p:tagLst xmlns:p="http://schemas.openxmlformats.org/presentationml/2006/main">
  <p:tag name="KSO_WM_DIAGRAM_VIRTUALLY_FRAME" val="{&quot;height&quot;:317,&quot;left&quot;:60,&quot;top&quot;:92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2093</Words>
  <Application>WPS 演示</Application>
  <PresentationFormat/>
  <Paragraphs>370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等线</vt:lpstr>
      <vt:lpstr>Noto Sans SC</vt:lpstr>
      <vt:lpstr>Times New Roman</vt:lpstr>
      <vt:lpstr>Arial Unicode MS</vt:lpstr>
      <vt:lpstr>Office 主题​​</vt:lpstr>
      <vt:lpstr>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Xiz</cp:lastModifiedBy>
  <cp:revision>10</cp:revision>
  <dcterms:created xsi:type="dcterms:W3CDTF">2026-05-11T01:25:00Z</dcterms:created>
  <dcterms:modified xsi:type="dcterms:W3CDTF">2026-05-11T15:10:38Z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EFBD8F9C99F64D74A39EA265CE88ACFD_12</vt:lpwstr>
  </property>
</Properties>
</file>